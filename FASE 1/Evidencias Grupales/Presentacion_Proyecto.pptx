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UVhqXF77ALnuWI15WE61VsXYi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A181C4-C266-46A9-B7A3-2DEE80659BD6}">
  <a:tblStyle styleId="{53A181C4-C266-46A9-B7A3-2DEE80659BD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2809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-2286000" y="4206240"/>
            <a:ext cx="5029200" cy="5029200"/>
          </a:xfrm>
          <a:prstGeom prst="ellipse">
            <a:avLst/>
          </a:prstGeom>
          <a:solidFill>
            <a:srgbClr val="02C39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822960" y="137160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PORTAFOLIO DE TÍTULO — ASIGNATURA CAPSTONE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1828800"/>
            <a:ext cx="98755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Plataforma Digital Académica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22960" y="306324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Definición del Proyecto APT — Fase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22960" y="3794760"/>
            <a:ext cx="4937760" cy="182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822960" y="4114800"/>
            <a:ext cx="7315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Integrantes: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Mariano Lobos, Alex Hernández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Carrera: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Ingeniería en Informática</a:t>
            </a:r>
            <a:b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Sede: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DuocUC San Joaquín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457200" y="411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188720" y="384048"/>
            <a:ext cx="10515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Definición e Impacto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57200" y="1234440"/>
            <a:ext cx="11247120" cy="1691640"/>
          </a:xfrm>
          <a:prstGeom prst="roundRect">
            <a:avLst>
              <a:gd fmla="val 4324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731520" y="137160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¿En qué consiste el proyecto?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31520" y="1691640"/>
            <a:ext cx="10698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Diseñar, desarrollar e implementar la Plataforma Digital Académica: un sistema web que reemplaza el uso de libros de clase físicos, permitiendo el registro y consulta en tiempo real de calificaciones, asistencia, observaciones y evaluaciones. Contempla un módulo de gestión académica, un módulo de comunicación (notificaciones y reportes) y un módulo de seguridad y respaldo de datos.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" y="315468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Relevancia e impacto real o simulado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57200" y="3520440"/>
            <a:ext cx="3630168" cy="2788920"/>
          </a:xfrm>
          <a:prstGeom prst="roundRect">
            <a:avLst>
              <a:gd fmla="val 2623" name="adj"/>
            </a:avLst>
          </a:prstGeom>
          <a:solidFill>
            <a:srgbClr val="FFFFFF"/>
          </a:solidFill>
          <a:ln cap="flat" cmpd="sng" w="12700">
            <a:solidFill>
              <a:srgbClr val="DD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E2761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85800" y="3749040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685800" y="3749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85800" y="4315968"/>
            <a:ext cx="31729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Problema real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85800" y="4681728"/>
            <a:ext cx="3172968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Instituciones educativas de menor tamaño en la Región Metropolitana gestionan la información académica mediante libros de clase físicos, generando retrasos, riesgo de pérdida de información y dificultad de comunicación.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270248" y="3520440"/>
            <a:ext cx="3630168" cy="2788920"/>
          </a:xfrm>
          <a:prstGeom prst="roundRect">
            <a:avLst>
              <a:gd fmla="val 2623" name="adj"/>
            </a:avLst>
          </a:prstGeom>
          <a:solidFill>
            <a:srgbClr val="FFFFFF"/>
          </a:solidFill>
          <a:ln cap="flat" cmpd="sng" w="12700">
            <a:solidFill>
              <a:srgbClr val="DD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E2761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498848" y="3749040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498848" y="3749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498848" y="4315968"/>
            <a:ext cx="31729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Pertinencia laboral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498848" y="4681728"/>
            <a:ext cx="3172968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La solución combina desarrollo de software, diseño de bases de datos y evaluación de proyectos: competencias centrales del perfil de egreso de Ingeniería en Informática.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8083296" y="3520440"/>
            <a:ext cx="3630168" cy="2788920"/>
          </a:xfrm>
          <a:prstGeom prst="roundRect">
            <a:avLst>
              <a:gd fmla="val 2623" name="adj"/>
            </a:avLst>
          </a:prstGeom>
          <a:solidFill>
            <a:srgbClr val="FFFFFF"/>
          </a:solidFill>
          <a:ln cap="flat" cmpd="sng" w="12700">
            <a:solidFill>
              <a:srgbClr val="DDE3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E2761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8311896" y="3749040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8311896" y="3749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311896" y="4315968"/>
            <a:ext cx="31729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Valor agregado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311896" y="4681728"/>
            <a:ext cx="3172968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Impacta a docentes, inspectores, estudiantes y apoderados, centralizando la información académica, reduciendo errores administrativos y mejorando la comunicación.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Plataforma Digital Académica  |  Portafolio de Título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457200" y="411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1188720" y="384048"/>
            <a:ext cx="10515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Perfil de Egreso e Intereses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57200" y="1234440"/>
            <a:ext cx="5486400" cy="5074920"/>
          </a:xfrm>
          <a:prstGeom prst="roundRect">
            <a:avLst>
              <a:gd fmla="val 1802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777240" y="146304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Competencias del perfil de egreso aplicadas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777240" y="2148840"/>
            <a:ext cx="128016" cy="12801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1051560" y="201168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Diseñar y desarrollar sistemas de información aplicando metodologías de ingeniería de software.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777240" y="3063240"/>
            <a:ext cx="128016" cy="12801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51560" y="292608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Gestionar proyectos informáticos utilizando metodologías ágiles.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77240" y="3977640"/>
            <a:ext cx="128016" cy="128016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1051560" y="384048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Evaluar la factibilidad técnica y operativa de soluciones tecnológicas.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777240" y="4892040"/>
            <a:ext cx="4846320" cy="1371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777240" y="507492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Área(s) de desempeño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777240" y="539496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Desarrollo de software y gestión de proyectos informáticos, orientado al diseño e implementación de soluciones digitales para la gestión de procesos administrativos y académicos.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263640" y="1371600"/>
            <a:ext cx="5440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Relación con los intereses profesionales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263640" y="1783080"/>
            <a:ext cx="5440680" cy="4526280"/>
          </a:xfrm>
          <a:prstGeom prst="roundRect">
            <a:avLst>
              <a:gd fmla="val 2020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6537960" y="2011680"/>
            <a:ext cx="489204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Nuestros intereses profesionales, como equipo, están orientados al desarrollo de software y a la gestión de proyectos tecnológicos aplicados a la resolución de problemas reales.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Este Proyecto APT nos permite aplicar y profundizar conocimientos en desarrollo web, bases de datos y evaluación de proyectos, además de enfrentar el desafío completo de un proyecto de software: desde el diagnóstico de un problema hasta la entrega de una solución funcional.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Desarrollarlo contribuirá a nuestra formación profesional al fortalecer nuestras competencias técnicas y de gestión, preparándonos para desempeñarnos en el desarrollo e implementación de soluciones tecnológicas en el ámbito laboral.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Plataforma Digital Académica  |  Portafolio de Título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57200" y="411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188720" y="384048"/>
            <a:ext cx="10515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Factibilidad y Riesgos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Es posible desarrollar este Proyecto APT dentro de los plazos y recursos disponibles para la asignatura de Portafolio de Título.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57200" y="1828800"/>
            <a:ext cx="3630168" cy="1737360"/>
          </a:xfrm>
          <a:prstGeom prst="roundRect">
            <a:avLst>
              <a:gd fmla="val 4211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685800" y="202996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685800" y="20299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85800" y="2578608"/>
            <a:ext cx="31729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Duración del semestre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85800" y="2926080"/>
            <a:ext cx="317296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18 semanas, distribuidas en las 3 fases de la asignatura.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270248" y="1828800"/>
            <a:ext cx="3630168" cy="1737360"/>
          </a:xfrm>
          <a:prstGeom prst="roundRect">
            <a:avLst>
              <a:gd fmla="val 4211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4498848" y="202996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4498848" y="20299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498848" y="2578608"/>
            <a:ext cx="31729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Horas asignadas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498848" y="2926080"/>
            <a:ext cx="317296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Horas cronológicas semanales definidas por el plan de estudio, destinadas íntegramente al avance del proyecto.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8083296" y="1828800"/>
            <a:ext cx="3630168" cy="1737360"/>
          </a:xfrm>
          <a:prstGeom prst="roundRect">
            <a:avLst>
              <a:gd fmla="val 4211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8311896" y="202996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8311896" y="20299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8311896" y="2578608"/>
            <a:ext cx="31729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Materiales requeridos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8311896" y="2926080"/>
            <a:ext cx="317296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Computador personal, acceso a internet, herramientas de desarrollo (editor de código, motor de base de datos) y acceso a servicios de hosting/nube.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57200" y="3794760"/>
            <a:ext cx="5440680" cy="2514600"/>
          </a:xfrm>
          <a:prstGeom prst="roundRect">
            <a:avLst>
              <a:gd fmla="val 3636" name="adj"/>
            </a:avLst>
          </a:prstGeom>
          <a:solidFill>
            <a:srgbClr val="E7F7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731520" y="39776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A56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B7A56"/>
                </a:solidFill>
                <a:latin typeface="Calibri"/>
                <a:ea typeface="Calibri"/>
                <a:cs typeface="Calibri"/>
                <a:sym typeface="Calibri"/>
              </a:rPr>
              <a:t>Factores que facilitan el desarrollo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731520" y="4389120"/>
            <a:ext cx="49377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• Disponibilidad de herramientas de desarrollo gratuitas.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• Acompañamiento del docente guía.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• Conocimientos previos en programación y bases de datos adquiridos durante la carrera.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263640" y="3794760"/>
            <a:ext cx="5440680" cy="2514600"/>
          </a:xfrm>
          <a:prstGeom prst="roundRect">
            <a:avLst>
              <a:gd fmla="val 3636" name="adj"/>
            </a:avLst>
          </a:prstGeom>
          <a:solidFill>
            <a:srgbClr val="FD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6537960" y="39776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Riesgos y su resolución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537960" y="4389120"/>
            <a:ext cx="49377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Dificultades: posible falta de disponibilidad de la institución educativa para validar avances, y limitación de tiempo por actividades laborales o académicas paralelas.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Resolución: reuniones periódicas breves con la institución y priorización de actividades mediante una planificación semanal.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Plataforma Digital Académica  |  Portafolio de Título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457200" y="411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1188720" y="384048"/>
            <a:ext cx="10515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Objetivos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57200" y="1234440"/>
            <a:ext cx="11247120" cy="1280160"/>
          </a:xfrm>
          <a:prstGeom prst="roundRect">
            <a:avLst>
              <a:gd fmla="val 714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777240" y="137160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777240" y="16459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Diseñar, desarrollar e implementar la Plataforma Digital Académica, un sistema web que sustituya el uso de libros de clase físicos, garantizando la actualización en tiempo real, el almacenamiento seguro y la accesibilidad de la información académica para docentes, inspectores, estudiantes y apoderados.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57200" y="26974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57200" y="3108960"/>
            <a:ext cx="5486400" cy="1051560"/>
          </a:xfrm>
          <a:prstGeom prst="roundRect">
            <a:avLst>
              <a:gd fmla="val 6087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621792" y="3273552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621792" y="32735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097280" y="3182112"/>
            <a:ext cx="4663440" cy="905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Digitalizar los registros académicos, permitiendo que calificaciones, asistencia y observaciones se registren y actualicen de forma automática y centralizada.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6217920" y="3108960"/>
            <a:ext cx="5486400" cy="1051560"/>
          </a:xfrm>
          <a:prstGeom prst="roundRect">
            <a:avLst>
              <a:gd fmla="val 6087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6382512" y="3273552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6382512" y="32735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858000" y="3182112"/>
            <a:ext cx="4663440" cy="905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Mejorar la comunicación entre docentes, administrativos, estudiantes y apoderados mediante notificaciones y reportes en tiempo real.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457200" y="4315968"/>
            <a:ext cx="5486400" cy="1051560"/>
          </a:xfrm>
          <a:prstGeom prst="roundRect">
            <a:avLst>
              <a:gd fmla="val 6087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621792" y="448056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621792" y="44805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097280" y="4389120"/>
            <a:ext cx="4663440" cy="905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Garantizar la seguridad y confidencialidad de la información mediante mecanismos de autenticación, encriptación y respaldo de datos.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6217920" y="4315968"/>
            <a:ext cx="5486400" cy="1051560"/>
          </a:xfrm>
          <a:prstGeom prst="roundRect">
            <a:avLst>
              <a:gd fmla="val 6087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6382512" y="448056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6382512" y="44805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6858000" y="4389120"/>
            <a:ext cx="4663440" cy="905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Diseñar una interfaz intuitiva y accesible desde </a:t>
            </a:r>
            <a:r>
              <a:rPr lang="en-US" sz="1080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página</a:t>
            </a:r>
            <a:r>
              <a:rPr lang="en-US" sz="1080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 web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57200" y="5522976"/>
            <a:ext cx="5486400" cy="960120"/>
          </a:xfrm>
          <a:prstGeom prst="roundRect">
            <a:avLst>
              <a:gd fmla="val 6667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621792" y="5687568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621792" y="56875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1097280" y="5596128"/>
            <a:ext cx="4663440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Validar la plataforma mediante una implementación piloto con retroalimentación de los usuarios.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Plataforma Digital Académica  |  Portafolio de Título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457200" y="411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1188720" y="384048"/>
            <a:ext cx="10515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Metodología de Trabajo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Para el desarrollo del proyecto se utilizará una metodología ágil basada en Scrum, adaptada a un equipo de trabajo compuesto por dos integrantes. El trabajo se organizará en sprints de una a dos semanas, en los que se definirán tareas concretas (historias de usuario) a partir del backlog del proyecto.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57200" y="21031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Etapas generales del desarrollo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57200" y="2514600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457200" y="251460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914400" y="2487168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Levantamiento y análisis de requerimientos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6"/>
          <p:cNvCxnSpPr/>
          <p:nvPr/>
        </p:nvCxnSpPr>
        <p:spPr>
          <a:xfrm>
            <a:off x="621792" y="2843784"/>
            <a:ext cx="0" cy="256032"/>
          </a:xfrm>
          <a:prstGeom prst="straightConnector1">
            <a:avLst/>
          </a:prstGeom>
          <a:noFill/>
          <a:ln cap="flat" cmpd="sng" w="19050">
            <a:solidFill>
              <a:srgbClr val="C9D2D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7" name="Google Shape;157;p6"/>
          <p:cNvSpPr/>
          <p:nvPr/>
        </p:nvSpPr>
        <p:spPr>
          <a:xfrm>
            <a:off x="457200" y="3099816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457200" y="309981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914400" y="3072384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Diseño de la arquitectura, base de datos e interfaces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6"/>
          <p:cNvCxnSpPr/>
          <p:nvPr/>
        </p:nvCxnSpPr>
        <p:spPr>
          <a:xfrm>
            <a:off x="621792" y="3429000"/>
            <a:ext cx="0" cy="256032"/>
          </a:xfrm>
          <a:prstGeom prst="straightConnector1">
            <a:avLst/>
          </a:prstGeom>
          <a:noFill/>
          <a:ln cap="flat" cmpd="sng" w="19050">
            <a:solidFill>
              <a:srgbClr val="C9D2D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1" name="Google Shape;161;p6"/>
          <p:cNvSpPr/>
          <p:nvPr/>
        </p:nvSpPr>
        <p:spPr>
          <a:xfrm>
            <a:off x="457200" y="3685032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457200" y="368503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914400" y="3657600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Desarrollo incremental de los módulos (gestión académica, comunicación y seguridad)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6"/>
          <p:cNvCxnSpPr/>
          <p:nvPr/>
        </p:nvCxnSpPr>
        <p:spPr>
          <a:xfrm>
            <a:off x="621792" y="4014216"/>
            <a:ext cx="0" cy="256032"/>
          </a:xfrm>
          <a:prstGeom prst="straightConnector1">
            <a:avLst/>
          </a:prstGeom>
          <a:noFill/>
          <a:ln cap="flat" cmpd="sng" w="19050">
            <a:solidFill>
              <a:srgbClr val="C9D2D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5" name="Google Shape;165;p6"/>
          <p:cNvSpPr/>
          <p:nvPr/>
        </p:nvSpPr>
        <p:spPr>
          <a:xfrm>
            <a:off x="457200" y="4270248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457200" y="427024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914400" y="4242816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Pruebas funcionales y de usuario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6"/>
          <p:cNvCxnSpPr/>
          <p:nvPr/>
        </p:nvCxnSpPr>
        <p:spPr>
          <a:xfrm>
            <a:off x="621792" y="4599432"/>
            <a:ext cx="0" cy="256032"/>
          </a:xfrm>
          <a:prstGeom prst="straightConnector1">
            <a:avLst/>
          </a:prstGeom>
          <a:noFill/>
          <a:ln cap="flat" cmpd="sng" w="19050">
            <a:solidFill>
              <a:srgbClr val="C9D2D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9" name="Google Shape;169;p6"/>
          <p:cNvSpPr/>
          <p:nvPr/>
        </p:nvSpPr>
        <p:spPr>
          <a:xfrm>
            <a:off x="457200" y="4855464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457200" y="485546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914400" y="4828032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Implementación piloto, documentación y entrega final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263640" y="2103120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Roles y responsabilidades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6263640" y="2514600"/>
            <a:ext cx="5440680" cy="1417320"/>
          </a:xfrm>
          <a:prstGeom prst="roundRect">
            <a:avLst>
              <a:gd fmla="val 5161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6537960" y="2651760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Mariano Lobos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537960" y="2971800"/>
            <a:ext cx="4892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Principalmente a cargo del desarrollo backend y base de datos.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6263640" y="4069080"/>
            <a:ext cx="5440680" cy="1417320"/>
          </a:xfrm>
          <a:prstGeom prst="roundRect">
            <a:avLst>
              <a:gd fmla="val 5161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6537960" y="4206240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Alex Hernández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537960" y="4526280"/>
            <a:ext cx="4892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Principalmente a cargo del diseño de la solución y el desarrollo frontend.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263640" y="5623560"/>
            <a:ext cx="5440680" cy="685800"/>
          </a:xfrm>
          <a:prstGeom prst="roundRect">
            <a:avLst>
              <a:gd fmla="val 10667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6492240" y="566928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Ambos integrantes participan conjuntamente en el levantamiento de requerimientos, la integración, las pruebas y la documentación final, con revisiones periódicas con el docente guía.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Plataforma Digital Académica  |  Portafolio de Título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457200" y="411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1188720" y="384048"/>
            <a:ext cx="10515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Plan de Trabajo e Hitos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1" name="Google Shape;191;p7"/>
          <p:cNvGraphicFramePr/>
          <p:nvPr/>
        </p:nvGraphicFramePr>
        <p:xfrm>
          <a:off x="36576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{53A181C4-C266-46A9-B7A3-2DEE80659BD6}</a:tableStyleId>
              </a:tblPr>
              <a:tblGrid>
                <a:gridCol w="1691650"/>
                <a:gridCol w="1965950"/>
                <a:gridCol w="2331725"/>
                <a:gridCol w="1371600"/>
                <a:gridCol w="1691650"/>
                <a:gridCol w="2377450"/>
              </a:tblGrid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Competencia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Actividad/Tarea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Recursos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Duración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Responsable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Observaciones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Análisis de requerimientos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Levantamiento de requerimientos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Computador, formularios de entrevista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semanas (S1-S3)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Mariano Lobos y Alex Hernández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Depende de la disponibilidad de la institución para las entrevistas.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Diseño de sistemas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Diseño de la solución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Software de diseño, motor de base de datos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semanas (S3-S4)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Alex Hernández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Sujeto a validación con el docente guía.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Desarrollo de software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Desarrollo del backend y base de datos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Lenguaje de programación, servidor/base de datos en la nube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semanas (S5-S9)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Mariano Lobos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 de mayor carga técnica del proyecto.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Desarrollo de software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Desarrollo del frontend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Framework frontend, herramientas de diseño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semanas (S8-S12)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Alex Hernández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ejecuta en paralelo con el avance del backend.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Aseguramiento de calidad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Integración y pruebas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Casos de prueba, usuarios de prueba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semanas (S12-S16)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Mariano Lobos y Alex Hernández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recomienda contar con retroalimentación de usuarios reales.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Gestión de proyectos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Documentación y presentación final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Computador, plantilla de informe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semanas (S17-S18)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Mariano Lobos y Alex Hernández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42C"/>
                        </a:buClr>
                        <a:buSzPts val="930"/>
                        <a:buFont typeface="Calibri"/>
                        <a:buNone/>
                      </a:pPr>
                      <a:r>
                        <a:rPr lang="en-US" sz="930" u="none" cap="none" strike="noStrike">
                          <a:solidFill>
                            <a:srgbClr val="20242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Considerar tiempo adicional para ajustes finales.</a:t>
                      </a:r>
                      <a:endParaRPr sz="9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92" name="Google Shape;192;p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Plataforma Digital Académica  |  Portafolio de Título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457200" y="411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1188720" y="384048"/>
            <a:ext cx="10515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Plan de Trabajo e Hitos — Carta Gantt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3200400" y="1097280"/>
            <a:ext cx="1889760" cy="32004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3200400" y="1097280"/>
            <a:ext cx="1889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Fase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5090160" y="1097280"/>
            <a:ext cx="5669280" cy="320040"/>
          </a:xfrm>
          <a:prstGeom prst="rect">
            <a:avLst/>
          </a:prstGeom>
          <a:solidFill>
            <a:srgbClr val="D6F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5090151" y="1097275"/>
            <a:ext cx="5196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Fase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10759440" y="1097280"/>
            <a:ext cx="944880" cy="320040"/>
          </a:xfrm>
          <a:prstGeom prst="rect">
            <a:avLst/>
          </a:prstGeom>
          <a:solidFill>
            <a:srgbClr val="FBE3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10287077" y="1097275"/>
            <a:ext cx="141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Fase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3200400" y="1463040"/>
            <a:ext cx="472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3672840" y="1463040"/>
            <a:ext cx="472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145280" y="1463040"/>
            <a:ext cx="472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4617720" y="1463040"/>
            <a:ext cx="472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5090160" y="1463040"/>
            <a:ext cx="472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5562600" y="1463040"/>
            <a:ext cx="472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6035040" y="1463040"/>
            <a:ext cx="472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S7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6507480" y="1463040"/>
            <a:ext cx="472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S8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6979920" y="1463040"/>
            <a:ext cx="472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7452360" y="1463040"/>
            <a:ext cx="472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S10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7924800" y="1463040"/>
            <a:ext cx="472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S11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8397240" y="1463040"/>
            <a:ext cx="472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8869680" y="1463040"/>
            <a:ext cx="472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S13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9342120" y="1463040"/>
            <a:ext cx="472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S14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9814560" y="1463040"/>
            <a:ext cx="472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S15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10287000" y="1463040"/>
            <a:ext cx="472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S16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10759440" y="1463040"/>
            <a:ext cx="472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S17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11231880" y="1463040"/>
            <a:ext cx="472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S18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457200" y="1783080"/>
            <a:ext cx="11247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548640" y="1783080"/>
            <a:ext cx="2606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Levantamiento requerimientos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172725" y="1892800"/>
            <a:ext cx="890100" cy="320100"/>
          </a:xfrm>
          <a:prstGeom prst="roundRect">
            <a:avLst>
              <a:gd fmla="val 10526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457200" y="2350008"/>
            <a:ext cx="1124712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548640" y="2350008"/>
            <a:ext cx="2606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Diseño de la solución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5090154" y="2436875"/>
            <a:ext cx="548700" cy="347400"/>
          </a:xfrm>
          <a:prstGeom prst="roundRect">
            <a:avLst>
              <a:gd fmla="val 10526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457200" y="2916936"/>
            <a:ext cx="11247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548640" y="2916936"/>
            <a:ext cx="2606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Desarrollo backend/BD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5117592" y="3026664"/>
            <a:ext cx="2307336" cy="347472"/>
          </a:xfrm>
          <a:prstGeom prst="roundRect">
            <a:avLst>
              <a:gd fmla="val 10526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457200" y="3483864"/>
            <a:ext cx="1124712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548640" y="3483864"/>
            <a:ext cx="2606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Desarrollo 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6534912" y="3593592"/>
            <a:ext cx="2307336" cy="347472"/>
          </a:xfrm>
          <a:prstGeom prst="roundRect">
            <a:avLst>
              <a:gd fmla="val 10526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457200" y="4050792"/>
            <a:ext cx="11247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548640" y="4050792"/>
            <a:ext cx="2606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Integración y pruebas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8657550" y="4160525"/>
            <a:ext cx="1157100" cy="347400"/>
          </a:xfrm>
          <a:prstGeom prst="roundRect">
            <a:avLst>
              <a:gd fmla="val 10526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457200" y="4617720"/>
            <a:ext cx="11247120" cy="5669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548640" y="4617720"/>
            <a:ext cx="2606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Documentación final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9396972" y="4727448"/>
            <a:ext cx="890100" cy="347400"/>
          </a:xfrm>
          <a:prstGeom prst="roundRect">
            <a:avLst>
              <a:gd fmla="val 10526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Plataforma Digital Académica  |  Portafolio de Título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457200" y="4114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1188720" y="384048"/>
            <a:ext cx="10515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Evidencias del Proyecto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457200" y="1234440"/>
            <a:ext cx="5440680" cy="2377440"/>
          </a:xfrm>
          <a:prstGeom prst="roundRect">
            <a:avLst>
              <a:gd fmla="val 3077" name="adj"/>
            </a:avLst>
          </a:prstGeom>
          <a:solidFill>
            <a:srgbClr val="F5F7FA"/>
          </a:solidFill>
          <a:ln>
            <a:noFill/>
          </a:ln>
          <a:effectLst>
            <a:outerShdw blurRad="63500" rotWithShape="0" algn="bl" dir="5400000" dist="254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685800" y="1435608"/>
            <a:ext cx="960120" cy="292608"/>
          </a:xfrm>
          <a:prstGeom prst="roundRect">
            <a:avLst>
              <a:gd fmla="val 50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685800" y="1435608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685800" y="1801368"/>
            <a:ext cx="4983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Documento de Levantamiento de Requerimientos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685800" y="2331720"/>
            <a:ext cx="4983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Documento que recopila el problema, los objetivos, el estudio de mercado y los requerimientos funcionales y no funcionales del proyecto.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685800" y="2971800"/>
            <a:ext cx="4983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Justificación: </a:t>
            </a:r>
            <a:r>
              <a:rPr b="0" i="0" lang="en-US" sz="9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Permite validar que el problema y el alcance del proyecto estén correctamente definidos antes de iniciar el desarrollo.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6263640" y="1234440"/>
            <a:ext cx="5440680" cy="2377440"/>
          </a:xfrm>
          <a:prstGeom prst="roundRect">
            <a:avLst>
              <a:gd fmla="val 3077" name="adj"/>
            </a:avLst>
          </a:prstGeom>
          <a:solidFill>
            <a:srgbClr val="F5F7FA"/>
          </a:solidFill>
          <a:ln>
            <a:noFill/>
          </a:ln>
          <a:effectLst>
            <a:outerShdw blurRad="63500" rotWithShape="0" algn="bl" dir="5400000" dist="254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6492240" y="1435608"/>
            <a:ext cx="960120" cy="292608"/>
          </a:xfrm>
          <a:prstGeom prst="roundRect">
            <a:avLst>
              <a:gd fmla="val 50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6492240" y="1435608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6492240" y="1801368"/>
            <a:ext cx="4983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Prototipo / MVP de la plataforma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6492240" y="2331720"/>
            <a:ext cx="4983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Versión inicial funcional de la plataforma con los módulos principales de gestión académica implementados.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6492240" y="2971800"/>
            <a:ext cx="4983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Justificación: </a:t>
            </a:r>
            <a:r>
              <a:rPr b="0" i="0" lang="en-US" sz="9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Evidencia el avance técnico del desarrollo y permite recibir retroalimentación temprana.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457200" y="3931920"/>
            <a:ext cx="5440680" cy="2377440"/>
          </a:xfrm>
          <a:prstGeom prst="roundRect">
            <a:avLst>
              <a:gd fmla="val 3077" name="adj"/>
            </a:avLst>
          </a:prstGeom>
          <a:solidFill>
            <a:srgbClr val="F5F7FA"/>
          </a:solidFill>
          <a:ln>
            <a:noFill/>
          </a:ln>
          <a:effectLst>
            <a:outerShdw blurRad="63500" rotWithShape="0" algn="bl" dir="5400000" dist="254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685800" y="4133088"/>
            <a:ext cx="960120" cy="292608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685800" y="4133088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685800" y="4498848"/>
            <a:ext cx="4983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Informe técnico final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685800" y="5029200"/>
            <a:ext cx="4983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Documento que consolida el desarrollo completo de la plataforma, las pruebas realizadas y los resultados obtenidos del proyecto.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685800" y="5669280"/>
            <a:ext cx="4983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Justificación: </a:t>
            </a:r>
            <a:r>
              <a:rPr b="0" i="0" lang="en-US" sz="9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 cuenta del cumplimiento de los objetivos planteados y del funcionamiento de la solución.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6263640" y="3931920"/>
            <a:ext cx="5440680" cy="2377440"/>
          </a:xfrm>
          <a:prstGeom prst="roundRect">
            <a:avLst>
              <a:gd fmla="val 3077" name="adj"/>
            </a:avLst>
          </a:prstGeom>
          <a:solidFill>
            <a:srgbClr val="F5F7FA"/>
          </a:solidFill>
          <a:ln>
            <a:noFill/>
          </a:ln>
          <a:effectLst>
            <a:outerShdw blurRad="63500" rotWithShape="0" algn="bl" dir="5400000" dist="254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6492240" y="4133088"/>
            <a:ext cx="960120" cy="292608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6492240" y="4133088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6492240" y="4498848"/>
            <a:ext cx="4983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Plataforma implementada (versión final)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6492240" y="5029200"/>
            <a:ext cx="4983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242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0242C"/>
                </a:solidFill>
                <a:latin typeface="Calibri"/>
                <a:ea typeface="Calibri"/>
                <a:cs typeface="Calibri"/>
                <a:sym typeface="Calibri"/>
              </a:rPr>
              <a:t>Sistema web funcional, desplegado y probado, listo para su uso por parte de la institución educativa.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6492240" y="5669280"/>
            <a:ext cx="4983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Justificación: </a:t>
            </a:r>
            <a:r>
              <a:rPr b="0" i="0" lang="en-US" sz="9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Constituye el producto final del proyecto y demuestra la aplicación práctica de las competencias del perfil de egreso.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Plataforma Digital Académica  |  Portafolio de Título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2026-09-03T02:59:50Z</dcterms:created>
  <dc:creator>PptxGenJS</dc:creator>
</cp:coreProperties>
</file>