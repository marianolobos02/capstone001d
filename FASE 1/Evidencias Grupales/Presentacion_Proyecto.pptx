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028090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2286000" y="4206240"/>
            <a:ext cx="5029200" cy="5029200"/>
          </a:xfrm>
          <a:prstGeom prst="ellipse">
            <a:avLst/>
          </a:prstGeom>
          <a:solidFill>
            <a:srgbClr val="02C39A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37160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PORTAFOLIO DE TÍTULO — ASIGNATURA CAPSTONE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828800"/>
            <a:ext cx="9875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Plataforma Digital Académica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822960" y="306324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Definición del Proyecto APT — Fase 1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22960" y="3794760"/>
            <a:ext cx="4937760" cy="18288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411480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Integrantes: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Mariano Lobos, Alex Hernández
</a:t>
            </a:r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Carrera: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en Informática
</a:t>
            </a:r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Sede: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DuocUC San Joaquín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11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188720" y="38404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Definición e Impacto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11247120" cy="1691640"/>
          </a:xfrm>
          <a:prstGeom prst="roundRect">
            <a:avLst>
              <a:gd name="adj" fmla="val 4324"/>
            </a:avLst>
          </a:prstGeom>
          <a:solidFill>
            <a:srgbClr val="F5F7FA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¿En qué consiste el proyecto?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1691640"/>
            <a:ext cx="10698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Diseñar, desarrollar e implementar la Plataforma Digital Académica: un sistema web que reemplaza el uso de libros de clase físicos, permitiendo el registro y consulta en tiempo real de calificaciones, asistencia, observaciones y evaluaciones. Contempla un módulo de gestión académica, un módulo de comunicación (notificaciones y reportes) y un módulo de seguridad y respaldo de datos.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Relevancia e impacto real o simulado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3520440"/>
            <a:ext cx="3630168" cy="2788920"/>
          </a:xfrm>
          <a:prstGeom prst="roundRect">
            <a:avLst>
              <a:gd name="adj" fmla="val 2623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76200" dist="25400" dir="5400000">
              <a:srgbClr val="1E2761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85800" y="37490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85800" y="4315968"/>
            <a:ext cx="3172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real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85800" y="4681728"/>
            <a:ext cx="317296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Instituciones educativas de menor tamaño en la Región Metropolitana gestionan la información académica mediante libros de clase físicos, generando retrasos, riesgo de pérdida de información y dificultad de comunicación.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270248" y="3520440"/>
            <a:ext cx="3630168" cy="2788920"/>
          </a:xfrm>
          <a:prstGeom prst="roundRect">
            <a:avLst>
              <a:gd name="adj" fmla="val 2623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76200" dist="25400" dir="5400000">
              <a:srgbClr val="1E2761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498848" y="37490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4498848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498848" y="4315968"/>
            <a:ext cx="3172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Pertinencia laboral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498848" y="4681728"/>
            <a:ext cx="317296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 combina desarrollo de software, diseño de bases de datos y evaluación de proyectos: competencias centrales del perfil de egreso de Ingeniería en Informática.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083296" y="3520440"/>
            <a:ext cx="3630168" cy="2788920"/>
          </a:xfrm>
          <a:prstGeom prst="roundRect">
            <a:avLst>
              <a:gd name="adj" fmla="val 2623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76200" dist="25400" dir="5400000">
              <a:srgbClr val="1E2761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311896" y="37490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</p:sp>
      <p:sp>
        <p:nvSpPr>
          <p:cNvPr id="21" name="Text 19"/>
          <p:cNvSpPr/>
          <p:nvPr/>
        </p:nvSpPr>
        <p:spPr>
          <a:xfrm>
            <a:off x="8311896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311896" y="4315968"/>
            <a:ext cx="3172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agregado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8311896" y="4681728"/>
            <a:ext cx="317296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Impacta a docentes, inspectores, estudiantes y apoderados, centralizando la información académica, reduciendo errores administrativos y mejorando la comunicación.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Digital Académica  |  Portafolio de Título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11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188720" y="38404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Perfil de Egreso e Intereses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5486400" cy="5074920"/>
          </a:xfrm>
          <a:prstGeom prst="roundRect">
            <a:avLst>
              <a:gd name="adj" fmla="val 1802"/>
            </a:avLst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46304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Competencias del perfil de egreso aplicadas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148840"/>
            <a:ext cx="128016" cy="12801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201168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Diseñar y desarrollar sistemas de información aplicando metodologías de ingeniería de software.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063240"/>
            <a:ext cx="128016" cy="12801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292608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Gestionar proyectos informáticos utilizando metodologías ágiles.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77240" y="3977640"/>
            <a:ext cx="128016" cy="12801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2" name="Text 10"/>
          <p:cNvSpPr/>
          <p:nvPr/>
        </p:nvSpPr>
        <p:spPr>
          <a:xfrm>
            <a:off x="1051560" y="384048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Evaluar la factibilidad técnica y operativa de soluciones tecnológicas.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4892040"/>
            <a:ext cx="4846320" cy="13716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50749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Área(s) de desempeño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77240" y="539496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Desarrollo de software y gestión de proyectos informáticos, orientado al diseño e implementación de soluciones digitales para la gestión de procesos administrativos y académicos.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263640" y="1371600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Relación con los intereses profesionales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263640" y="1783080"/>
            <a:ext cx="5440680" cy="4526280"/>
          </a:xfrm>
          <a:prstGeom prst="roundRect">
            <a:avLst>
              <a:gd name="adj" fmla="val 2020"/>
            </a:avLst>
          </a:prstGeom>
          <a:solidFill>
            <a:srgbClr val="F5F7FA"/>
          </a:solidFill>
          <a:ln/>
        </p:spPr>
      </p:sp>
      <p:sp>
        <p:nvSpPr>
          <p:cNvPr id="18" name="Text 16"/>
          <p:cNvSpPr/>
          <p:nvPr/>
        </p:nvSpPr>
        <p:spPr>
          <a:xfrm>
            <a:off x="6537960" y="2011680"/>
            <a:ext cx="489204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Nuestros intereses profesionales, como equipo, están orientados al desarrollo de software y a la gestión de proyectos tecnológicos aplicados a la resolución de problemas reales.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Proyecto APT nos permite aplicar y profundizar conocimientos en desarrollo web, bases de datos y evaluación de proyectos, además de enfrentar el desafío completo de un proyecto de software: desde el diagnóstico de un problema hasta la entrega de una solución funcional.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Desarrollarlo contribuirá a nuestra formación profesional al fortalecer nuestras competencias técnicas y de gestión, preparándonos para desempeñarnos en el desarrollo e implementación de soluciones tecnológicas en el ámbito laboral.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Digital Académica  |  Portafolio de Título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11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188720" y="38404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Factibilidad y Riesgos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posible desarrollar este Proyecto APT dentro de los plazos y recursos disponibles para la asignatura de Portafolio de Título.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3630168" cy="1737360"/>
          </a:xfrm>
          <a:prstGeom prst="roundRect">
            <a:avLst>
              <a:gd name="adj" fmla="val 4211"/>
            </a:avLst>
          </a:prstGeom>
          <a:solidFill>
            <a:srgbClr val="F5F7FA"/>
          </a:solidFill>
          <a:ln/>
        </p:spPr>
      </p:sp>
      <p:sp>
        <p:nvSpPr>
          <p:cNvPr id="7" name="Shape 5"/>
          <p:cNvSpPr/>
          <p:nvPr/>
        </p:nvSpPr>
        <p:spPr>
          <a:xfrm>
            <a:off x="685800" y="2029968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20299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85800" y="2578608"/>
            <a:ext cx="3172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Duración del semestre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85800" y="2926080"/>
            <a:ext cx="31729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semanas, distribuidas en las 3 fases de la asignatura.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270248" y="1828800"/>
            <a:ext cx="3630168" cy="1737360"/>
          </a:xfrm>
          <a:prstGeom prst="roundRect">
            <a:avLst>
              <a:gd name="adj" fmla="val 4211"/>
            </a:avLst>
          </a:prstGeom>
          <a:solidFill>
            <a:srgbClr val="F5F7FA"/>
          </a:solidFill>
          <a:ln/>
        </p:spPr>
      </p:sp>
      <p:sp>
        <p:nvSpPr>
          <p:cNvPr id="12" name="Shape 10"/>
          <p:cNvSpPr/>
          <p:nvPr/>
        </p:nvSpPr>
        <p:spPr>
          <a:xfrm>
            <a:off x="4498848" y="2029968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3" name="Text 11"/>
          <p:cNvSpPr/>
          <p:nvPr/>
        </p:nvSpPr>
        <p:spPr>
          <a:xfrm>
            <a:off x="4498848" y="20299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498848" y="2578608"/>
            <a:ext cx="3172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asignadas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498848" y="2926080"/>
            <a:ext cx="31729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cronológicas semanales definidas por el plan de estudio, destinadas íntegramente al avance del proyecto.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83296" y="1828800"/>
            <a:ext cx="3630168" cy="1737360"/>
          </a:xfrm>
          <a:prstGeom prst="roundRect">
            <a:avLst>
              <a:gd name="adj" fmla="val 4211"/>
            </a:avLst>
          </a:prstGeom>
          <a:solidFill>
            <a:srgbClr val="F5F7FA"/>
          </a:solidFill>
          <a:ln/>
        </p:spPr>
      </p:sp>
      <p:sp>
        <p:nvSpPr>
          <p:cNvPr id="17" name="Shape 15"/>
          <p:cNvSpPr/>
          <p:nvPr/>
        </p:nvSpPr>
        <p:spPr>
          <a:xfrm>
            <a:off x="8311896" y="2029968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8" name="Text 16"/>
          <p:cNvSpPr/>
          <p:nvPr/>
        </p:nvSpPr>
        <p:spPr>
          <a:xfrm>
            <a:off x="8311896" y="20299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311896" y="2578608"/>
            <a:ext cx="3172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Materiales requeridos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311896" y="2926080"/>
            <a:ext cx="31729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Computador personal, acceso a internet, herramientas de desarrollo (editor de código, motor de base de datos) y acceso a servicios de hosting/nube.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3794760"/>
            <a:ext cx="5440680" cy="2514600"/>
          </a:xfrm>
          <a:prstGeom prst="roundRect">
            <a:avLst>
              <a:gd name="adj" fmla="val 3636"/>
            </a:avLst>
          </a:prstGeom>
          <a:solidFill>
            <a:srgbClr val="E7F7F1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3977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7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Factores que facilitan el desarrollo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731520" y="438912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Disponibilidad de herramientas de desarrollo gratuitas.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Acompañamiento del docente guía.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Conocimientos previos en programación y bases de datos adquiridos durante la carrera.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263640" y="3794760"/>
            <a:ext cx="5440680" cy="2514600"/>
          </a:xfrm>
          <a:prstGeom prst="roundRect">
            <a:avLst>
              <a:gd name="adj" fmla="val 3636"/>
            </a:avLst>
          </a:prstGeom>
          <a:solidFill>
            <a:srgbClr val="FDECEC"/>
          </a:solidFill>
          <a:ln/>
        </p:spPr>
      </p:sp>
      <p:sp>
        <p:nvSpPr>
          <p:cNvPr id="25" name="Text 23"/>
          <p:cNvSpPr/>
          <p:nvPr/>
        </p:nvSpPr>
        <p:spPr>
          <a:xfrm>
            <a:off x="6537960" y="3977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 y su resolución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537960" y="438912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Dificultades: posible falta de disponibilidad de la institución educativa para validar avances, y limitación de tiempo por actividades laborales o académicas paralelas.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Resolución: reuniones periódicas breves con la institución y priorización de actividades mediante una planificación semanal.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Digital Académica  |  Portafolio de Título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11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188720" y="38404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37160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GENERAL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77240" y="164592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Diseñar, desarrollar e implementar la Plataforma Digital Académica, un sistema web que sustituya el uso de libros de clase físicos, garantizando la actualización en tiempo real, el almacenamiento seguro y la accesibilidad de la información académica para docentes, inspectores, estudiantes y apoderados.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57200" y="269748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 ESPECÍFICOS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108960"/>
            <a:ext cx="5486400" cy="1051560"/>
          </a:xfrm>
          <a:prstGeom prst="roundRect">
            <a:avLst>
              <a:gd name="adj" fmla="val 6087"/>
            </a:avLst>
          </a:prstGeom>
          <a:solidFill>
            <a:srgbClr val="F5F7FA"/>
          </a:solidFill>
          <a:ln/>
        </p:spPr>
      </p:sp>
      <p:sp>
        <p:nvSpPr>
          <p:cNvPr id="10" name="Shape 8"/>
          <p:cNvSpPr/>
          <p:nvPr/>
        </p:nvSpPr>
        <p:spPr>
          <a:xfrm>
            <a:off x="621792" y="3273552"/>
            <a:ext cx="365760" cy="36576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" y="32735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97280" y="3182112"/>
            <a:ext cx="466344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80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Digitalizar los registros académicos, permitiendo que calificaciones, asistencia y observaciones se registren y actualicen de forma automática y centralizada.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6217920" y="3108960"/>
            <a:ext cx="5486400" cy="1051560"/>
          </a:xfrm>
          <a:prstGeom prst="roundRect">
            <a:avLst>
              <a:gd name="adj" fmla="val 6087"/>
            </a:avLst>
          </a:prstGeom>
          <a:solidFill>
            <a:srgbClr val="F5F7FA"/>
          </a:solidFill>
          <a:ln/>
        </p:spPr>
      </p:sp>
      <p:sp>
        <p:nvSpPr>
          <p:cNvPr id="14" name="Shape 12"/>
          <p:cNvSpPr/>
          <p:nvPr/>
        </p:nvSpPr>
        <p:spPr>
          <a:xfrm>
            <a:off x="6382512" y="3273552"/>
            <a:ext cx="365760" cy="36576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5" name="Text 13"/>
          <p:cNvSpPr/>
          <p:nvPr/>
        </p:nvSpPr>
        <p:spPr>
          <a:xfrm>
            <a:off x="6382512" y="32735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858000" y="3182112"/>
            <a:ext cx="466344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80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Mejorar la comunicación entre docentes, administrativos, estudiantes y apoderados mediante notificaciones y reportes en tiempo real.</a:t>
            </a:r>
            <a:endParaRPr lang="en-US" sz="1080" dirty="0"/>
          </a:p>
        </p:txBody>
      </p:sp>
      <p:sp>
        <p:nvSpPr>
          <p:cNvPr id="17" name="Shape 15"/>
          <p:cNvSpPr/>
          <p:nvPr/>
        </p:nvSpPr>
        <p:spPr>
          <a:xfrm>
            <a:off x="457200" y="4315968"/>
            <a:ext cx="5486400" cy="1051560"/>
          </a:xfrm>
          <a:prstGeom prst="roundRect">
            <a:avLst>
              <a:gd name="adj" fmla="val 6087"/>
            </a:avLst>
          </a:prstGeom>
          <a:solidFill>
            <a:srgbClr val="F5F7FA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" y="4480560"/>
            <a:ext cx="365760" cy="36576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9" name="Text 17"/>
          <p:cNvSpPr/>
          <p:nvPr/>
        </p:nvSpPr>
        <p:spPr>
          <a:xfrm>
            <a:off x="621792" y="4480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97280" y="4389120"/>
            <a:ext cx="466344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80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Garantizar la seguridad y confidencialidad de la información mediante mecanismos de autenticación, encriptación y respaldo de datos.</a:t>
            </a:r>
            <a:endParaRPr lang="en-US" sz="1080" dirty="0"/>
          </a:p>
        </p:txBody>
      </p:sp>
      <p:sp>
        <p:nvSpPr>
          <p:cNvPr id="21" name="Shape 19"/>
          <p:cNvSpPr/>
          <p:nvPr/>
        </p:nvSpPr>
        <p:spPr>
          <a:xfrm>
            <a:off x="6217920" y="4315968"/>
            <a:ext cx="5486400" cy="1051560"/>
          </a:xfrm>
          <a:prstGeom prst="roundRect">
            <a:avLst>
              <a:gd name="adj" fmla="val 6087"/>
            </a:avLst>
          </a:prstGeom>
          <a:solidFill>
            <a:srgbClr val="F5F7FA"/>
          </a:solidFill>
          <a:ln/>
        </p:spPr>
      </p:sp>
      <p:sp>
        <p:nvSpPr>
          <p:cNvPr id="22" name="Shape 20"/>
          <p:cNvSpPr/>
          <p:nvPr/>
        </p:nvSpPr>
        <p:spPr>
          <a:xfrm>
            <a:off x="6382512" y="4480560"/>
            <a:ext cx="365760" cy="36576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3" name="Text 21"/>
          <p:cNvSpPr/>
          <p:nvPr/>
        </p:nvSpPr>
        <p:spPr>
          <a:xfrm>
            <a:off x="6382512" y="4480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858000" y="4389120"/>
            <a:ext cx="466344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80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Diseñar una interfaz intuitiva y accesible desde distintos dispositivos (computador, tablet, smartphone).</a:t>
            </a:r>
            <a:endParaRPr lang="en-US" sz="1080" dirty="0"/>
          </a:p>
        </p:txBody>
      </p:sp>
      <p:sp>
        <p:nvSpPr>
          <p:cNvPr id="25" name="Shape 23"/>
          <p:cNvSpPr/>
          <p:nvPr/>
        </p:nvSpPr>
        <p:spPr>
          <a:xfrm>
            <a:off x="457200" y="5522976"/>
            <a:ext cx="5486400" cy="960120"/>
          </a:xfrm>
          <a:prstGeom prst="roundRect">
            <a:avLst>
              <a:gd name="adj" fmla="val 6667"/>
            </a:avLst>
          </a:prstGeom>
          <a:solidFill>
            <a:srgbClr val="F5F7FA"/>
          </a:solidFill>
          <a:ln/>
        </p:spPr>
      </p:sp>
      <p:sp>
        <p:nvSpPr>
          <p:cNvPr id="26" name="Shape 24"/>
          <p:cNvSpPr/>
          <p:nvPr/>
        </p:nvSpPr>
        <p:spPr>
          <a:xfrm>
            <a:off x="621792" y="5687568"/>
            <a:ext cx="365760" cy="36576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7" name="Text 25"/>
          <p:cNvSpPr/>
          <p:nvPr/>
        </p:nvSpPr>
        <p:spPr>
          <a:xfrm>
            <a:off x="621792" y="5687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097280" y="5596128"/>
            <a:ext cx="466344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80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la plataforma mediante una implementación piloto con retroalimentación de los usuarios.</a:t>
            </a:r>
            <a:endParaRPr lang="en-US" sz="1080" dirty="0"/>
          </a:p>
        </p:txBody>
      </p:sp>
      <p:sp>
        <p:nvSpPr>
          <p:cNvPr id="29" name="Text 2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Digital Académica  |  Portafolio de Título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11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188720" y="38404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Metodología de Trabajo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el desarrollo del proyecto se utilizará una metodología ágil basada en Scrum, adaptada a un equipo de trabajo compuesto por dos integrantes. El trabajo se organizará en sprints de una a dos semanas, en los que se definirán tareas concretas (historias de usuario) a partir del backlog del proyecto.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57200" y="21031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Etapas generales del desarrollo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514600"/>
            <a:ext cx="329184" cy="32918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514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2487168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Levantamiento y análisis de requerimientos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1792" y="2843784"/>
            <a:ext cx="0" cy="256032"/>
          </a:xfrm>
          <a:prstGeom prst="line">
            <a:avLst/>
          </a:prstGeom>
          <a:noFill/>
          <a:ln w="19050">
            <a:solidFill>
              <a:srgbClr val="C9D2DC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457200" y="3099816"/>
            <a:ext cx="329184" cy="32918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099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4400" y="3072384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de la arquitectura, base de datos e interfaces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1792" y="3429000"/>
            <a:ext cx="0" cy="256032"/>
          </a:xfrm>
          <a:prstGeom prst="line">
            <a:avLst/>
          </a:prstGeom>
          <a:noFill/>
          <a:ln w="19050">
            <a:solidFill>
              <a:srgbClr val="C9D2DC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457200" y="3685032"/>
            <a:ext cx="329184" cy="32918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36850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14400" y="365760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Desarrollo incremental de los módulos (gestión académica, comunicación y seguridad)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1792" y="4014216"/>
            <a:ext cx="0" cy="256032"/>
          </a:xfrm>
          <a:prstGeom prst="line">
            <a:avLst/>
          </a:prstGeom>
          <a:noFill/>
          <a:ln w="19050">
            <a:solidFill>
              <a:srgbClr val="C9D2DC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457200" y="4270248"/>
            <a:ext cx="329184" cy="32918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42702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14400" y="4242816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funcionales y de usuario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1792" y="4599432"/>
            <a:ext cx="0" cy="256032"/>
          </a:xfrm>
          <a:prstGeom prst="line">
            <a:avLst/>
          </a:prstGeom>
          <a:noFill/>
          <a:ln w="19050">
            <a:solidFill>
              <a:srgbClr val="C9D2DC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457200" y="4855464"/>
            <a:ext cx="329184" cy="32918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554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14400" y="4828032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piloto, documentación y entrega final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263640" y="2103120"/>
            <a:ext cx="5440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y responsabilidades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263640" y="2514600"/>
            <a:ext cx="5440680" cy="1417320"/>
          </a:xfrm>
          <a:prstGeom prst="roundRect">
            <a:avLst>
              <a:gd name="adj" fmla="val 5161"/>
            </a:avLst>
          </a:prstGeom>
          <a:solidFill>
            <a:srgbClr val="F5F7FA"/>
          </a:solidFill>
          <a:ln/>
        </p:spPr>
      </p:sp>
      <p:sp>
        <p:nvSpPr>
          <p:cNvPr id="28" name="Text 26"/>
          <p:cNvSpPr/>
          <p:nvPr/>
        </p:nvSpPr>
        <p:spPr>
          <a:xfrm>
            <a:off x="6537960" y="2651760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Mariano Lobos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537960" y="2971800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Principalmente a cargo del desarrollo backend y base de datos.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263640" y="4069080"/>
            <a:ext cx="5440680" cy="1417320"/>
          </a:xfrm>
          <a:prstGeom prst="roundRect">
            <a:avLst>
              <a:gd name="adj" fmla="val 5161"/>
            </a:avLst>
          </a:prstGeom>
          <a:solidFill>
            <a:srgbClr val="F5F7FA"/>
          </a:solidFill>
          <a:ln/>
        </p:spPr>
      </p:sp>
      <p:sp>
        <p:nvSpPr>
          <p:cNvPr id="31" name="Text 29"/>
          <p:cNvSpPr/>
          <p:nvPr/>
        </p:nvSpPr>
        <p:spPr>
          <a:xfrm>
            <a:off x="6537960" y="4206240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Alex Hernández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537960" y="4526280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Principalmente a cargo del diseño de la solución y el desarrollo frontend.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6263640" y="5623560"/>
            <a:ext cx="5440680" cy="685800"/>
          </a:xfrm>
          <a:prstGeom prst="roundRect">
            <a:avLst>
              <a:gd name="adj" fmla="val 10667"/>
            </a:avLst>
          </a:prstGeom>
          <a:solidFill>
            <a:srgbClr val="028090"/>
          </a:solidFill>
          <a:ln/>
        </p:spPr>
      </p:sp>
      <p:sp>
        <p:nvSpPr>
          <p:cNvPr id="34" name="Text 32"/>
          <p:cNvSpPr/>
          <p:nvPr/>
        </p:nvSpPr>
        <p:spPr>
          <a:xfrm>
            <a:off x="6492240" y="566928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Ambos integrantes participan conjuntamente en el levantamiento de requerimientos, la integración, las pruebas y la documentación final, con revisiones periódicas con el docente guía.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Digital Académica  |  Portafolio de Título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11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188720" y="38404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de Trabajo e Hitos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417320"/>
          <a:ext cx="1143000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965960"/>
                <a:gridCol w="2331720"/>
                <a:gridCol w="1371600"/>
                <a:gridCol w="1691640"/>
                <a:gridCol w="2377440"/>
              </a:tblGrid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Actividad/Tarea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Recursos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2024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Análisis de requerimientos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2024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Levantamiento de requerimientos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2024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Computador, formularios de entrevista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2024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semanas (S1-S3)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2024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Mariano Lobos y Alex Hernández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2024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Depende de la disponibilidad de la institución para las entrevistas.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2024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Diseño de sistemas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2024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Diseño de la solución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2024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Software de diseño, motor de base de datos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2024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semanas (S3-S4)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2024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Alex Hernández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2024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Sujeto a validación con el docente guía.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2024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Desarrollo de software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2024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Desarrollo del backend y base de datos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2024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Lenguaje de programación, servidor/base de datos en la nube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2024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semanas (S5-S9)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2024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Mariano Lobos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2024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Actividad de mayor carga técnica del proyecto.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2024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Desarrollo de software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2024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Desarrollo del frontend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2024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Framework frontend, herramientas de diseño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2024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semanas (S8-S12)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2024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Alex Hernández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2024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ejecuta en paralelo con el avance del backend.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2024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Aseguramiento de calidad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2024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pruebas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2024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Casos de prueba, usuarios de prueba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2024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semanas (S12-S16)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2024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Mariano Lobos y Alex Hernández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2024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recomienda contar con retroalimentación de usuarios reales.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2024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2024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Documentación y presentación final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2024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Computador, plantilla de informe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2024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semanas (S17-S18)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2024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Mariano Lobos y Alex Hernández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2024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Considerar tiempo adicional para ajustes finales.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Digital Académica  |  Portafolio de Título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11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188720" y="38404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de Trabajo e Hitos — Carta Gantt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200400" y="1097280"/>
            <a:ext cx="1889760" cy="32004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6" name="Text 4"/>
          <p:cNvSpPr/>
          <p:nvPr/>
        </p:nvSpPr>
        <p:spPr>
          <a:xfrm>
            <a:off x="3200400" y="1097280"/>
            <a:ext cx="1889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90160" y="1097280"/>
            <a:ext cx="5669280" cy="320040"/>
          </a:xfrm>
          <a:prstGeom prst="rect">
            <a:avLst/>
          </a:prstGeom>
          <a:solidFill>
            <a:srgbClr val="D6F5EC"/>
          </a:solidFill>
          <a:ln/>
        </p:spPr>
      </p:sp>
      <p:sp>
        <p:nvSpPr>
          <p:cNvPr id="8" name="Text 6"/>
          <p:cNvSpPr/>
          <p:nvPr/>
        </p:nvSpPr>
        <p:spPr>
          <a:xfrm>
            <a:off x="5090160" y="109728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0759440" y="1097280"/>
            <a:ext cx="944880" cy="320040"/>
          </a:xfrm>
          <a:prstGeom prst="rect">
            <a:avLst/>
          </a:prstGeom>
          <a:solidFill>
            <a:srgbClr val="FBE3D5"/>
          </a:solidFill>
          <a:ln/>
        </p:spPr>
      </p:sp>
      <p:sp>
        <p:nvSpPr>
          <p:cNvPr id="10" name="Text 8"/>
          <p:cNvSpPr/>
          <p:nvPr/>
        </p:nvSpPr>
        <p:spPr>
          <a:xfrm>
            <a:off x="10759440" y="1097280"/>
            <a:ext cx="94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3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200400" y="1463040"/>
            <a:ext cx="472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672840" y="1463040"/>
            <a:ext cx="472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4145280" y="1463040"/>
            <a:ext cx="472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4617720" y="1463040"/>
            <a:ext cx="472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5090160" y="1463040"/>
            <a:ext cx="472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5562600" y="1463040"/>
            <a:ext cx="472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S6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035040" y="1463040"/>
            <a:ext cx="472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S7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6507480" y="1463040"/>
            <a:ext cx="472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S8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6979920" y="1463040"/>
            <a:ext cx="472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S9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7452360" y="1463040"/>
            <a:ext cx="472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S10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7924800" y="1463040"/>
            <a:ext cx="472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S11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8397240" y="1463040"/>
            <a:ext cx="472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S12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8869680" y="1463040"/>
            <a:ext cx="472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S13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9342120" y="1463040"/>
            <a:ext cx="472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S14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9814560" y="1463040"/>
            <a:ext cx="472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S15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0287000" y="1463040"/>
            <a:ext cx="472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S16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0759440" y="1463040"/>
            <a:ext cx="472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S17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1231880" y="1463040"/>
            <a:ext cx="472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S18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457200" y="1783080"/>
            <a:ext cx="112471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548640" y="178308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Levantamiento requerimientos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227832" y="1892808"/>
            <a:ext cx="1362456" cy="347472"/>
          </a:xfrm>
          <a:prstGeom prst="roundRect">
            <a:avLst>
              <a:gd name="adj" fmla="val 10526"/>
            </a:avLst>
          </a:prstGeom>
          <a:solidFill>
            <a:srgbClr val="028090"/>
          </a:solidFill>
          <a:ln/>
        </p:spPr>
      </p:sp>
      <p:sp>
        <p:nvSpPr>
          <p:cNvPr id="32" name="Shape 30"/>
          <p:cNvSpPr/>
          <p:nvPr/>
        </p:nvSpPr>
        <p:spPr>
          <a:xfrm>
            <a:off x="457200" y="2350008"/>
            <a:ext cx="11247120" cy="566928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3" name="Text 31"/>
          <p:cNvSpPr/>
          <p:nvPr/>
        </p:nvSpPr>
        <p:spPr>
          <a:xfrm>
            <a:off x="548640" y="2350008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de la solución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172712" y="2459736"/>
            <a:ext cx="890016" cy="347472"/>
          </a:xfrm>
          <a:prstGeom prst="roundRect">
            <a:avLst>
              <a:gd name="adj" fmla="val 10526"/>
            </a:avLst>
          </a:prstGeom>
          <a:solidFill>
            <a:srgbClr val="028090"/>
          </a:solidFill>
          <a:ln/>
        </p:spPr>
      </p:sp>
      <p:sp>
        <p:nvSpPr>
          <p:cNvPr id="35" name="Shape 33"/>
          <p:cNvSpPr/>
          <p:nvPr/>
        </p:nvSpPr>
        <p:spPr>
          <a:xfrm>
            <a:off x="457200" y="2916936"/>
            <a:ext cx="112471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548640" y="2916936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Desarrollo backend/BD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117592" y="3026664"/>
            <a:ext cx="2307336" cy="347472"/>
          </a:xfrm>
          <a:prstGeom prst="roundRect">
            <a:avLst>
              <a:gd name="adj" fmla="val 10526"/>
            </a:avLst>
          </a:prstGeom>
          <a:solidFill>
            <a:srgbClr val="028090"/>
          </a:solidFill>
          <a:ln/>
        </p:spPr>
      </p:sp>
      <p:sp>
        <p:nvSpPr>
          <p:cNvPr id="38" name="Shape 36"/>
          <p:cNvSpPr/>
          <p:nvPr/>
        </p:nvSpPr>
        <p:spPr>
          <a:xfrm>
            <a:off x="457200" y="3483864"/>
            <a:ext cx="11247120" cy="566928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9" name="Text 37"/>
          <p:cNvSpPr/>
          <p:nvPr/>
        </p:nvSpPr>
        <p:spPr>
          <a:xfrm>
            <a:off x="548640" y="3483864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Desarrollo frontend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534912" y="3593592"/>
            <a:ext cx="2307336" cy="347472"/>
          </a:xfrm>
          <a:prstGeom prst="roundRect">
            <a:avLst>
              <a:gd name="adj" fmla="val 10526"/>
            </a:avLst>
          </a:prstGeom>
          <a:solidFill>
            <a:srgbClr val="028090"/>
          </a:solidFill>
          <a:ln/>
        </p:spPr>
      </p:sp>
      <p:sp>
        <p:nvSpPr>
          <p:cNvPr id="41" name="Shape 39"/>
          <p:cNvSpPr/>
          <p:nvPr/>
        </p:nvSpPr>
        <p:spPr>
          <a:xfrm>
            <a:off x="457200" y="4050792"/>
            <a:ext cx="112471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548640" y="4050792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y pruebas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8424672" y="4160520"/>
            <a:ext cx="2307336" cy="347472"/>
          </a:xfrm>
          <a:prstGeom prst="roundRect">
            <a:avLst>
              <a:gd name="adj" fmla="val 10526"/>
            </a:avLst>
          </a:prstGeom>
          <a:solidFill>
            <a:srgbClr val="028090"/>
          </a:solidFill>
          <a:ln/>
        </p:spPr>
      </p:sp>
      <p:sp>
        <p:nvSpPr>
          <p:cNvPr id="44" name="Shape 42"/>
          <p:cNvSpPr/>
          <p:nvPr/>
        </p:nvSpPr>
        <p:spPr>
          <a:xfrm>
            <a:off x="457200" y="4617720"/>
            <a:ext cx="11247120" cy="566928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45" name="Text 43"/>
          <p:cNvSpPr/>
          <p:nvPr/>
        </p:nvSpPr>
        <p:spPr>
          <a:xfrm>
            <a:off x="548640" y="461772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Documentación final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10786872" y="4727448"/>
            <a:ext cx="890016" cy="347472"/>
          </a:xfrm>
          <a:prstGeom prst="roundRect">
            <a:avLst>
              <a:gd name="adj" fmla="val 10526"/>
            </a:avLst>
          </a:prstGeom>
          <a:solidFill>
            <a:srgbClr val="028090"/>
          </a:solidFill>
          <a:ln/>
        </p:spPr>
      </p:sp>
      <p:sp>
        <p:nvSpPr>
          <p:cNvPr id="47" name="Text 45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Digital Académica  |  Portafolio de Título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11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188720" y="38404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Evidencias del Proyecto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5440680" cy="2377440"/>
          </a:xfrm>
          <a:prstGeom prst="roundRect">
            <a:avLst>
              <a:gd name="adj" fmla="val 3077"/>
            </a:avLst>
          </a:prstGeom>
          <a:solidFill>
            <a:srgbClr val="F5F7FA"/>
          </a:solidFill>
          <a:ln/>
          <a:effectLst>
            <a:outerShdw sx="100000" sy="100000" kx="0" ky="0" algn="bl" rotWithShape="0" blurRad="63500" dist="25400" dir="5400000">
              <a:srgbClr val="1E2761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85800" y="1435608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435608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85800" y="1801368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 de Levantamiento de Requerimientos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233172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 que recopila el problema, los objetivos, el estudio de mercado y los requerimientos funcionales y no funcionales del proyecto.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85800" y="2971800"/>
            <a:ext cx="4983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Justificación: 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Permite validar que el problema y el alcance del proyecto estén correctamente definidos antes de iniciar el desarrollo.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263640" y="1234440"/>
            <a:ext cx="5440680" cy="2377440"/>
          </a:xfrm>
          <a:prstGeom prst="roundRect">
            <a:avLst>
              <a:gd name="adj" fmla="val 3077"/>
            </a:avLst>
          </a:prstGeom>
          <a:solidFill>
            <a:srgbClr val="F5F7FA"/>
          </a:solidFill>
          <a:ln/>
          <a:effectLst>
            <a:outerShdw sx="100000" sy="100000" kx="0" ky="0" algn="bl" rotWithShape="0" blurRad="63500" dist="25400" dir="5400000">
              <a:srgbClr val="1E2761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92240" y="1435608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13" name="Text 11"/>
          <p:cNvSpPr/>
          <p:nvPr/>
        </p:nvSpPr>
        <p:spPr>
          <a:xfrm>
            <a:off x="6492240" y="1435608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492240" y="1801368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Prototipo / MVP de la plataforma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92240" y="233172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Versión inicial funcional de la plataforma con los módulos principales de gestión académica implementados.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92240" y="2971800"/>
            <a:ext cx="4983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Justificación: 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Evidencia el avance técnico del desarrollo y permite recibir retroalimentación temprana.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57200" y="3931920"/>
            <a:ext cx="5440680" cy="2377440"/>
          </a:xfrm>
          <a:prstGeom prst="roundRect">
            <a:avLst>
              <a:gd name="adj" fmla="val 3077"/>
            </a:avLst>
          </a:prstGeom>
          <a:solidFill>
            <a:srgbClr val="F5F7FA"/>
          </a:solidFill>
          <a:ln/>
          <a:effectLst>
            <a:outerShdw sx="100000" sy="100000" kx="0" ky="0" algn="bl" rotWithShape="0" blurRad="63500" dist="25400" dir="5400000">
              <a:srgbClr val="1E2761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85800" y="4133088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" y="4133088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85800" y="4498848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técnico final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85800" y="502920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 que consolida el desarrollo completo de la plataforma, las pruebas realizadas y los resultados obtenidos del proyecto.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5800" y="5669280"/>
            <a:ext cx="4983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Justificación: 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cuenta del cumplimiento de los objetivos planteados y del funcionamiento de la solución.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263640" y="3931920"/>
            <a:ext cx="5440680" cy="2377440"/>
          </a:xfrm>
          <a:prstGeom prst="roundRect">
            <a:avLst>
              <a:gd name="adj" fmla="val 3077"/>
            </a:avLst>
          </a:prstGeom>
          <a:solidFill>
            <a:srgbClr val="F5F7FA"/>
          </a:solidFill>
          <a:ln/>
          <a:effectLst>
            <a:outerShdw sx="100000" sy="100000" kx="0" ky="0" algn="bl" rotWithShape="0" blurRad="63500" dist="25400" dir="5400000">
              <a:srgbClr val="1E2761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492240" y="4133088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25" name="Text 23"/>
          <p:cNvSpPr/>
          <p:nvPr/>
        </p:nvSpPr>
        <p:spPr>
          <a:xfrm>
            <a:off x="6492240" y="4133088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492240" y="4498848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implementada (versión final)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492240" y="502920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web funcional, desplegado y probado, listo para su uso por parte de la institución educativa.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492240" y="5669280"/>
            <a:ext cx="4983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Justificación: 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Constituye el producto final del proyecto y demuestra la aplicación práctica de las competencias del perfil de egreso.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Digital Académica  |  Portafolio de Título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2026-09-03T02:59:50Z</dcterms:created>
  <dcterms:modified xsi:type="dcterms:W3CDTF">2026-09-03T02:59:50Z</dcterms:modified>
</cp:coreProperties>
</file>